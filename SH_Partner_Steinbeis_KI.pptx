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e4ba0766-2714-8e8f-272a-be31872697cf}">
          <p14:sldIdLst>
            <p14:sldId id="256"/>
            <p14:sldId id="257"/>
          </p14:sldIdLst>
        </p14:section>
        <p14:section name="Markt" id="{1e33d61d-ea2b-ac4c-a193-40f33ab4630c}">
          <p14:sldIdLst>
            <p14:sldId id="258"/>
            <p14:sldId id="259"/>
          </p14:sldIdLst>
        </p14:section>
        <p14:section name="Ansatz" id="{7852b83f-99f5-169f-3c85-a2b283d440ff}">
          <p14:sldIdLst>
            <p14:sldId id="260"/>
            <p14:sldId id="261"/>
            <p14:sldId id="262"/>
          </p14:sldIdLst>
        </p14:section>
        <p14:section name="Kunden" id="{9a142c82-2e4e-735f-34d4-36972288529a}">
          <p14:sldIdLst>
            <p14:sldId id="263"/>
          </p14:sldIdLst>
        </p14:section>
        <p14:section name="Kooperation" id="{4b94e1ed-1477-a740-0754-79bcd6771775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SH&amp;Partner stellt sich als schnelle, technologieagnostische Umsetzungseinheit für KI in digitalen Geschäftsprozessen des Mittelstands vor – mit Blick auf einen möglichen Anschluss an den Steinbeis-Verbund.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Kernsatz der gesamten Präsentation. Rechts die fünf Arbeitsprinzipien, die uns von klassischen Beratungen, Agenturen und reinen Softwareanbietern unterscheiden.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Großer Markt, breite Nutzung, aber kaum ausgeschöpftes Potenzial. Genau diese Lücke zwischen Nutzung und Wirkung adressiert SH&amp;Partner.
Quellen: KfW-Mittelstandspanel 2025; Bitkom Research, 'Erstmals nutzt die Mehrheit der Unternehmen KI',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meisten Unternehmen haben Stufe 1 und 2 erreicht. Der Wettbewerbsvorteil entsteht erst mit Integration und messbarer Skalierung – und genau dort fehlen Priorisierung, Geschwindigkeit, technische Übersetzung, Kapazität und KPI-Logik.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Enablement ohne Implementierung bleibt ohne Prozesswirkung; Implementierung ohne befähigte Mitarbeitende ohne Akzeptanz. Wir verbinden beides – und konzentrieren uns bewusst auf digitale Prozesse.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Fünf Phasen, durchgängig KPI-gesteuert. Entscheidend ist die Bewertung: Wir setzen nur um, was sich messbar lohnt – und wählen die Technologie erst, wenn Prozess, Nutzen und Datenlage klar sind.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Treppe zeigt die Logik: niedrige Einstiegshürde über Enablement, bezahlte Discovery als Qualifizierung, Umsetzung mit messbarem Ergebnis und schließlich die AI-Partnerschaft als externe KI-Taskforce – wiederkehrend und langfristig.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Branchenübergreifende Projekterfahrung im Mittelstand. Als Teil der Steinbeis-Gruppe öffnet sich durch Reputation und Netzwerk der Zugang zu größeren Kunden und umfangreicheren Mandaten.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Steinbeis verfügt bereits über umfassende KI-, Transfer-, Beratungs- und Weiterbildungskompetenz. SH&amp;Partner ergänzt dies um schnelle, technologieagnostische Implementierung in digitalen Prozessen. Gemeinsam: Kundenprojekte, größere Mandate, Unterstützung anderer Transferzentren bei der operativen Umsetzung und langfristige Partnerschaften.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Abschluss: Wir sehen den Anschluss an Steinbeis nicht allein als Erweiterung unserer Marktpräsenz, sondern als Chance, einen substanziellen Beitrag zur Wettbewerbsfähigkeit des Mittelstands zu leisten.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dunkel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nhalt-hell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dunk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he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sh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73368"/>
            <a:ext cx="859536" cy="1600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63459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SH&amp;Partner  ·  Kooperationsprofil für den Steinbeis-Verbund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5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95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s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600200" cy="29809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70048" y="676656"/>
            <a:ext cx="0" cy="40233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pic>
        <p:nvPicPr>
          <p:cNvPr id="4" name="Image 1" descr="logo_steinbei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731520"/>
            <a:ext cx="1408176" cy="29809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77240" y="269748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6"/>
                </a:solidFill>
              </a:rPr>
              <a:t>UNTERNEHMENS- UND KOOPERATIONSPROFIL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301752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chemeClr val="bg1"/>
                </a:solidFill>
              </a:rPr>
              <a:t>KI für messbare </a:t>
            </a:r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chemeClr val="bg1"/>
                </a:solidFill>
              </a:rPr>
              <a:t>Wettbewerbsvorteile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dirty="0">
                <a:solidFill>
                  <a:schemeClr val="bg1"/>
                </a:solidFill>
              </a:rPr>
              <a:t>im Mittelstand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3434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8"/>
                </a:solidFill>
              </a:rPr>
              <a:t>Schnell. Pragmatisch. Technologieagnostisch. Umsetzungsstark.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6263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Oktober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WER WIR SIND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SH&amp;Partner: KI-Umsetzung für den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deutschen Mittelstand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Wir helfen mittelständischen Unternehmen, KI nicht nur zu verstehen, sondern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schnell, pragmatisch und messbar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 in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Wettbewerbsvorteile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 zu übersetzen.</a:t>
            </a:r>
            <a:endParaRPr lang="en-US" sz="2000" dirty="0"/>
          </a:p>
        </p:txBody>
      </p:sp>
      <p:sp>
        <p:nvSpPr>
          <p:cNvPr id="5" name="Vision"/>
          <p:cNvSpPr/>
          <p:nvPr/>
        </p:nvSpPr>
        <p:spPr>
          <a:xfrm>
            <a:off x="548640" y="4251960"/>
            <a:ext cx="4937760" cy="1463040"/>
          </a:xfrm>
          <a:prstGeom prst="roundRect">
            <a:avLst>
              <a:gd name="adj" fmla="val 437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4622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UNSERE VISION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Den deutschen Mittelstand durch produktive KI-Anwendungen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nachhaltig wettbewerbsfähiger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machen.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87452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2512" y="199339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903720" y="1856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Prozessnah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212140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Wir starten beim Geschäftsprozess, nicht beim Tool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2496312"/>
            <a:ext cx="470916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63640" y="2642616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761488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03720" y="2624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KPI-getrieben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903720" y="288950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Klare Zielsetzung und Messgröße vor Projektbeginn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903720" y="3264408"/>
            <a:ext cx="470916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63640" y="3410712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3529584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03720" y="3392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Technologieagnostisch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6903720" y="365760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Lösung nach Nutzen, Datenlage und Kundensystemen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903720" y="4032504"/>
            <a:ext cx="470916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63640" y="4178808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4297680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03720" y="4160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Mittelstandsnah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03720" y="442569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Branchenübergreifend, ca. 40–400 Mitarbeitende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903720" y="4800600"/>
            <a:ext cx="470916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263640" y="49469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5065776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03720" y="49286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Umsetzungsstark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903720" y="51937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Vom Anwendungsfall zum MVP in wenigen Wochen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MARKTCHANCE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Die Technologie ist bereit – jetzt entscheidet die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Umsetzungsgeschwindigkeit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KI ist reif für den produktiven Einsatz in digitalen Geschäftsprozessen. Der Unterschied entsteht nicht mehr dadurch, </a:t>
            </a:r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Unternehmen KI kennen, sondern </a:t>
            </a:r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wie schnell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 sie diese in reale Prozesse übersetzen.</a:t>
            </a:r>
            <a:endParaRPr lang="en-US" sz="1200" dirty="0"/>
          </a:p>
        </p:txBody>
      </p:sp>
      <p:sp>
        <p:nvSpPr>
          <p:cNvPr id="5" name="Kennzahl 1"/>
          <p:cNvSpPr/>
          <p:nvPr/>
        </p:nvSpPr>
        <p:spPr>
          <a:xfrm>
            <a:off x="548640" y="2468880"/>
            <a:ext cx="3520440" cy="2148840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6974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3,87 Mio.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mittelständische Unternehmen in Deutschland –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unser Kernmarkt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2452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KfW-Mittelstandspanel 2025 (Stand 2024)</a:t>
            </a:r>
            <a:endParaRPr lang="en-US" sz="900" dirty="0"/>
          </a:p>
        </p:txBody>
      </p:sp>
      <p:sp>
        <p:nvSpPr>
          <p:cNvPr id="9" name="Kennzahl 2"/>
          <p:cNvSpPr/>
          <p:nvPr/>
        </p:nvSpPr>
        <p:spPr>
          <a:xfrm>
            <a:off x="4334256" y="2468880"/>
            <a:ext cx="3520440" cy="2148840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08576" y="26974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57 %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608576" y="3474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der Unternehmen ab 20 Beschäftigten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nutzen bereits KI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422452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Bitkom Research, September 2026</a:t>
            </a:r>
            <a:endParaRPr lang="en-US" sz="900" dirty="0"/>
          </a:p>
        </p:txBody>
      </p:sp>
      <p:sp>
        <p:nvSpPr>
          <p:cNvPr id="13" name="Kennzahl 3"/>
          <p:cNvSpPr/>
          <p:nvPr/>
        </p:nvSpPr>
        <p:spPr>
          <a:xfrm>
            <a:off x="8119872" y="2468880"/>
            <a:ext cx="3520440" cy="2148840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94192" y="26974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9 von 10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94192" y="34747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sehen sich beim KI-Einsatz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noch am Anfang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94192" y="4224528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Bitkom Research, September 2026</a:t>
            </a:r>
            <a:endParaRPr lang="en-US" sz="900" dirty="0"/>
          </a:p>
        </p:txBody>
      </p:sp>
      <p:sp>
        <p:nvSpPr>
          <p:cNvPr id="17" name="Kernaussage"/>
          <p:cNvSpPr/>
          <p:nvPr/>
        </p:nvSpPr>
        <p:spPr>
          <a:xfrm>
            <a:off x="548640" y="4937760"/>
            <a:ext cx="11091672" cy="658368"/>
          </a:xfrm>
          <a:prstGeom prst="roundRect">
            <a:avLst>
              <a:gd name="adj" fmla="val 97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93776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Der Markt ist nicht mehr Awareness – </a:t>
            </a:r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der Markt ist Umsetzung.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 Wer KI jetzt schneller in Produktivität übersetzt, sichert sich den Wettbewerbsvorteil.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424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Hinweis: unterschiedliche Grundgesamtheiten; die 3,87 Mio. umfassen auch sehr kleine Unternehmen.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AUSGANGSLAGE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Der Mittelstand hat kein Erkenntnisproblem – sondern ein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Umsetzungsproblem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VOM POTENZIAL ZUR WIRKUNG</a:t>
            </a:r>
            <a:endParaRPr lang="en-US" sz="900" dirty="0"/>
          </a:p>
        </p:txBody>
      </p:sp>
      <p:sp>
        <p:nvSpPr>
          <p:cNvPr id="5" name="Stufe 1"/>
          <p:cNvSpPr/>
          <p:nvPr/>
        </p:nvSpPr>
        <p:spPr>
          <a:xfrm>
            <a:off x="548640" y="5166360"/>
            <a:ext cx="256032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663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 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KI verstehen</a:t>
            </a:r>
            <a:endParaRPr lang="en-US" sz="1200" dirty="0"/>
          </a:p>
        </p:txBody>
      </p:sp>
      <p:sp>
        <p:nvSpPr>
          <p:cNvPr id="7" name="Stufe 2"/>
          <p:cNvSpPr/>
          <p:nvPr/>
        </p:nvSpPr>
        <p:spPr>
          <a:xfrm>
            <a:off x="914400" y="4526280"/>
            <a:ext cx="2560320" cy="512064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452628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 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Tools testen</a:t>
            </a:r>
            <a:endParaRPr lang="en-US" sz="1200" dirty="0"/>
          </a:p>
        </p:txBody>
      </p:sp>
      <p:sp>
        <p:nvSpPr>
          <p:cNvPr id="9" name="Stufe 3"/>
          <p:cNvSpPr/>
          <p:nvPr/>
        </p:nvSpPr>
        <p:spPr>
          <a:xfrm>
            <a:off x="1280160" y="3429000"/>
            <a:ext cx="2560320" cy="512064"/>
          </a:xfrm>
          <a:prstGeom prst="roundRect">
            <a:avLst>
              <a:gd name="adj" fmla="val 10714"/>
            </a:avLst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4290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  </a:t>
            </a:r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 Prozesse integrieren</a:t>
            </a:r>
            <a:endParaRPr lang="en-US" sz="1200" dirty="0"/>
          </a:p>
        </p:txBody>
      </p:sp>
      <p:sp>
        <p:nvSpPr>
          <p:cNvPr id="11" name="Stufe 4"/>
          <p:cNvSpPr/>
          <p:nvPr/>
        </p:nvSpPr>
        <p:spPr>
          <a:xfrm>
            <a:off x="1645920" y="2788920"/>
            <a:ext cx="2560320" cy="512064"/>
          </a:xfrm>
          <a:prstGeom prst="roundRect">
            <a:avLst>
              <a:gd name="adj" fmla="val 10714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28800" y="278892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  </a:t>
            </a:r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Messbar skalieren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4505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Hier entsteht der Wettbewerbsvorteil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53035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Hier stehen die meisten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265176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310128" y="4114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UMSETZUNGSLÜCKE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17830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WAS IN DER PRAXIS FEHLT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35040" y="2194560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3504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10528" y="217627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Priorisierung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243230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Viele Ideen, aber keine Bewertung nach Nutzen und Aufwand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10528" y="2779776"/>
            <a:ext cx="512064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35040" y="2926080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510528" y="290779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Geschwindigkeit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10528" y="316382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Pilotprojekte dauern zu lange und verlieren an Momentum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10528" y="3511296"/>
            <a:ext cx="512064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0" y="3657600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510528" y="3639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Technische Übersetzung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510528" y="389534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Vom Anwendungsfall zur integrierten Lösung fehlt die Brücke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510528" y="4242816"/>
            <a:ext cx="512064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35040" y="4389120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3504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370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Interne Kapazität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462686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IT und Fachbereiche sind im Tagesgeschäft gebunden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10528" y="4974336"/>
            <a:ext cx="5120640" cy="0"/>
          </a:xfrm>
          <a:prstGeom prst="line">
            <a:avLst/>
          </a:prstGeom>
          <a:noFill/>
          <a:ln w="6350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35040" y="5120640"/>
            <a:ext cx="292608" cy="29260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03504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510528" y="510235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Messbare Wirkung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6510528" y="535838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Ohne KPI-Logik bleibt der Nutzen unsichtbar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UNSER KI-VERSTÄNDNIS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Zwei Dimensionen von KI: Enablement und Implementierung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gehören zusammen</a:t>
            </a:r>
            <a:endParaRPr lang="en-US" sz="2200" dirty="0"/>
          </a:p>
        </p:txBody>
      </p:sp>
      <p:sp>
        <p:nvSpPr>
          <p:cNvPr id="4" name="Individual Enablement"/>
          <p:cNvSpPr/>
          <p:nvPr/>
        </p:nvSpPr>
        <p:spPr>
          <a:xfrm>
            <a:off x="548640" y="1783080"/>
            <a:ext cx="5394960" cy="3383280"/>
          </a:xfrm>
          <a:prstGeom prst="roundRect">
            <a:avLst>
              <a:gd name="adj" fmla="val 189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817" y="2236257"/>
            <a:ext cx="245791" cy="24579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21122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DIMENSION 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572768" y="2331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Individual Enablement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9864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Mitarbeitende und Teams befähigen, KI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produktiv im Arbeitsalltag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zu nutzen – effizienter und mit höherer Qualität.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BEISPIELE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68680" y="3977640"/>
            <a:ext cx="866851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3977640"/>
            <a:ext cx="866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Recherche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826971" y="3977640"/>
            <a:ext cx="1196035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26971" y="3977640"/>
            <a:ext cx="1196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Texterstellung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114446" y="3977640"/>
            <a:ext cx="735178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14446" y="3977640"/>
            <a:ext cx="7351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Analyse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941064" y="3977640"/>
            <a:ext cx="1459382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41064" y="3977640"/>
            <a:ext cx="1459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Meeting-Protokolle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68680" y="4379976"/>
            <a:ext cx="1130198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4379976"/>
            <a:ext cx="1130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Wissensarbeit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090318" y="4379976"/>
            <a:ext cx="866851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90318" y="4379976"/>
            <a:ext cx="8668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Prompting</a:t>
            </a:r>
            <a:endParaRPr lang="en-US" sz="1000" dirty="0"/>
          </a:p>
        </p:txBody>
      </p:sp>
      <p:sp>
        <p:nvSpPr>
          <p:cNvPr id="23" name="Institutionelle Implementierung"/>
          <p:cNvSpPr/>
          <p:nvPr/>
        </p:nvSpPr>
        <p:spPr>
          <a:xfrm>
            <a:off x="6245352" y="1783080"/>
            <a:ext cx="5394960" cy="3383280"/>
          </a:xfrm>
          <a:prstGeom prst="roundRect">
            <a:avLst>
              <a:gd name="adj" fmla="val 189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565392" y="2103120"/>
            <a:ext cx="512064" cy="512064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529" y="2236257"/>
            <a:ext cx="245791" cy="245791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269480" y="21122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DIMENSION 2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7269480" y="2331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Institutionelle Implementierung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6565392" y="289864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KI mit spezialisierten Anwendungen in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wertschöpfende, repetitive Geschäftsprozesse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integrieren.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565392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BEISPIELE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6565392" y="3977640"/>
            <a:ext cx="1459382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565392" y="3977640"/>
            <a:ext cx="1459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Wissensdatenbanken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8116214" y="3977640"/>
            <a:ext cx="1722730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116214" y="3977640"/>
            <a:ext cx="17227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Dokumentenverarbeitung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9930384" y="3977640"/>
            <a:ext cx="1130198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930384" y="3977640"/>
            <a:ext cx="1130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Kundenservice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565392" y="4379976"/>
            <a:ext cx="1525219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65392" y="4379976"/>
            <a:ext cx="15252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CRM-Kundenhistorien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8182051" y="4379976"/>
            <a:ext cx="1656893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182051" y="4379976"/>
            <a:ext cx="165689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Compliance-Monitoring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6565392" y="4782312"/>
            <a:ext cx="1459382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565392" y="4782312"/>
            <a:ext cx="1459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Berichtserstellung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116214" y="4782312"/>
            <a:ext cx="932688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116214" y="4782312"/>
            <a:ext cx="932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Recruiting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5870448" y="3218688"/>
            <a:ext cx="457200" cy="4572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587044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+</a:t>
            </a:r>
            <a:endParaRPr lang="en-US" sz="1800" dirty="0"/>
          </a:p>
        </p:txBody>
      </p:sp>
      <p:sp>
        <p:nvSpPr>
          <p:cNvPr id="46" name="Abgrenzung"/>
          <p:cNvSpPr/>
          <p:nvPr/>
        </p:nvSpPr>
        <p:spPr>
          <a:xfrm>
            <a:off x="548640" y="5394960"/>
            <a:ext cx="11091672" cy="566928"/>
          </a:xfrm>
          <a:prstGeom prst="roundRect">
            <a:avLst>
              <a:gd name="adj" fmla="val 112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31520" y="54772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581863"/>
            <a:ext cx="193121" cy="193121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325880" y="53949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Klarer Fokus auf virtuelle, digitale Prozesse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– keine Robotics, keine physische Automatisierung.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VORGEHENSWEISE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End-to-End: vom Geschäftsprozess zur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messbaren Wirkung</a:t>
            </a:r>
            <a:endParaRPr lang="en-US" sz="2200" dirty="0"/>
          </a:p>
        </p:txBody>
      </p:sp>
      <p:sp>
        <p:nvSpPr>
          <p:cNvPr id="4" name="Phase Verstehen"/>
          <p:cNvSpPr/>
          <p:nvPr/>
        </p:nvSpPr>
        <p:spPr>
          <a:xfrm>
            <a:off x="548640" y="1783080"/>
            <a:ext cx="2212848" cy="457200"/>
          </a:xfrm>
          <a:prstGeom prst="homePlat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Verstehen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377440"/>
            <a:ext cx="189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Geschäftsprozess, Datenlage und Systeme analysieren</a:t>
            </a:r>
            <a:endParaRPr lang="en-US" sz="1100" dirty="0"/>
          </a:p>
        </p:txBody>
      </p:sp>
      <p:sp>
        <p:nvSpPr>
          <p:cNvPr id="7" name="Phase Priorisieren"/>
          <p:cNvSpPr/>
          <p:nvPr/>
        </p:nvSpPr>
        <p:spPr>
          <a:xfrm>
            <a:off x="2779776" y="1783080"/>
            <a:ext cx="2212848" cy="45720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08376" y="178308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Priorisieren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889504" y="2377440"/>
            <a:ext cx="189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Use Cases bewerten, Business Case und KI-Roadmap</a:t>
            </a:r>
            <a:endParaRPr lang="en-US" sz="1100" dirty="0"/>
          </a:p>
        </p:txBody>
      </p:sp>
      <p:sp>
        <p:nvSpPr>
          <p:cNvPr id="10" name="Phase Umsetzen"/>
          <p:cNvSpPr/>
          <p:nvPr/>
        </p:nvSpPr>
        <p:spPr>
          <a:xfrm>
            <a:off x="5010912" y="1783080"/>
            <a:ext cx="2212848" cy="45720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39512" y="178308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Umsetzen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377440"/>
            <a:ext cx="189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MVP entwickeln und in bestehende Systeme integrieren</a:t>
            </a:r>
            <a:endParaRPr lang="en-US" sz="1100" dirty="0"/>
          </a:p>
        </p:txBody>
      </p:sp>
      <p:sp>
        <p:nvSpPr>
          <p:cNvPr id="13" name="Phase Messen"/>
          <p:cNvSpPr/>
          <p:nvPr/>
        </p:nvSpPr>
        <p:spPr>
          <a:xfrm>
            <a:off x="7242048" y="1783080"/>
            <a:ext cx="2212848" cy="457200"/>
          </a:xfrm>
          <a:prstGeom prst="chevron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70648" y="178308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 Messen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51776" y="2377440"/>
            <a:ext cx="189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Wirkung anhand vorab definierter KPIs nachweisen</a:t>
            </a:r>
            <a:endParaRPr lang="en-US" sz="1100" dirty="0"/>
          </a:p>
        </p:txBody>
      </p:sp>
      <p:sp>
        <p:nvSpPr>
          <p:cNvPr id="16" name="Phase Skalieren"/>
          <p:cNvSpPr/>
          <p:nvPr/>
        </p:nvSpPr>
        <p:spPr>
          <a:xfrm>
            <a:off x="9473184" y="1783080"/>
            <a:ext cx="2212848" cy="45720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01784" y="178308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Skalieren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82912" y="2377440"/>
            <a:ext cx="189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Rollout und kontinuierliche Weiterentwicklung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2918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NICHT JEDER USE CASE SCHAFFT WERT – WIR BEWERTEN NACH</a:t>
            </a:r>
            <a:endParaRPr lang="en-US" sz="900" dirty="0"/>
          </a:p>
        </p:txBody>
      </p:sp>
      <p:sp>
        <p:nvSpPr>
          <p:cNvPr id="20" name="Business Impact"/>
          <p:cNvSpPr/>
          <p:nvPr/>
        </p:nvSpPr>
        <p:spPr>
          <a:xfrm>
            <a:off x="548640" y="3639312"/>
            <a:ext cx="210312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886200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839" y="3990807"/>
            <a:ext cx="193121" cy="193121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207008" y="3639312"/>
            <a:ext cx="143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Business Impact</a:t>
            </a:r>
            <a:endParaRPr lang="en-US" sz="1050" dirty="0"/>
          </a:p>
        </p:txBody>
      </p:sp>
      <p:sp>
        <p:nvSpPr>
          <p:cNvPr id="24" name="Aufwand"/>
          <p:cNvSpPr/>
          <p:nvPr/>
        </p:nvSpPr>
        <p:spPr>
          <a:xfrm>
            <a:off x="2779776" y="3639312"/>
            <a:ext cx="210312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944368" y="3886200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975" y="3990807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3438144" y="3639312"/>
            <a:ext cx="143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Aufwand</a:t>
            </a:r>
            <a:endParaRPr lang="en-US" sz="1050" dirty="0"/>
          </a:p>
        </p:txBody>
      </p:sp>
      <p:sp>
        <p:nvSpPr>
          <p:cNvPr id="28" name="Datenlage"/>
          <p:cNvSpPr/>
          <p:nvPr/>
        </p:nvSpPr>
        <p:spPr>
          <a:xfrm>
            <a:off x="5010912" y="3639312"/>
            <a:ext cx="210312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175504" y="3886200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111" y="3990807"/>
            <a:ext cx="193121" cy="193121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5669280" y="3639312"/>
            <a:ext cx="143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Datenlage</a:t>
            </a:r>
            <a:endParaRPr lang="en-US" sz="1050" dirty="0"/>
          </a:p>
        </p:txBody>
      </p:sp>
      <p:sp>
        <p:nvSpPr>
          <p:cNvPr id="32" name="Integrationsfähigkeit"/>
          <p:cNvSpPr/>
          <p:nvPr/>
        </p:nvSpPr>
        <p:spPr>
          <a:xfrm>
            <a:off x="7242048" y="3639312"/>
            <a:ext cx="210312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7406640" y="3886200"/>
            <a:ext cx="402336" cy="40233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247" y="3990807"/>
            <a:ext cx="193121" cy="193121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900416" y="3639312"/>
            <a:ext cx="143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Integrationsfähigkeit</a:t>
            </a:r>
            <a:endParaRPr lang="en-US" sz="1050" dirty="0"/>
          </a:p>
        </p:txBody>
      </p:sp>
      <p:sp>
        <p:nvSpPr>
          <p:cNvPr id="36" name="Wettbewerbsvorteil"/>
          <p:cNvSpPr/>
          <p:nvPr/>
        </p:nvSpPr>
        <p:spPr>
          <a:xfrm>
            <a:off x="9473184" y="3639312"/>
            <a:ext cx="2103120" cy="868680"/>
          </a:xfrm>
          <a:prstGeom prst="roundRect">
            <a:avLst>
              <a:gd name="adj" fmla="val 7368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637776" y="388620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2383" y="3990807"/>
            <a:ext cx="193121" cy="193121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0131552" y="3639312"/>
            <a:ext cx="1435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Wettbewerbsvorteil</a:t>
            </a:r>
            <a:endParaRPr lang="en-US" sz="1050" dirty="0"/>
          </a:p>
        </p:txBody>
      </p:sp>
      <p:sp>
        <p:nvSpPr>
          <p:cNvPr id="40" name="Kernaussage"/>
          <p:cNvSpPr/>
          <p:nvPr/>
        </p:nvSpPr>
        <p:spPr>
          <a:xfrm>
            <a:off x="548640" y="4892040"/>
            <a:ext cx="11091672" cy="658368"/>
          </a:xfrm>
          <a:prstGeom prst="roundRect">
            <a:avLst>
              <a:gd name="adj" fmla="val 97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Technologieagnostisch: 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Die Technologie folgt Prozess, Nutzen, Datenlage und Kundensystemen – nicht umgekehrt. So entsteht die </a:t>
            </a:r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passende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, nicht die naheliegende Lösung.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ANGEBOTSMODELL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Vom Einstieg zur dauerhaften KI-Fähigkeit –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ein skalierbarer Projektpfad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Aus dem Erstkontakt wird ein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strukturierter Projektpfad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– aus Projekten werden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langfristige Kundenbeziehungen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Stufe 1"/>
          <p:cNvSpPr/>
          <p:nvPr/>
        </p:nvSpPr>
        <p:spPr>
          <a:xfrm>
            <a:off x="548640" y="4160520"/>
            <a:ext cx="2724912" cy="18288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727448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Enablement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502920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9E1"/>
                </a:solidFill>
              </a:rPr>
              <a:t>Workshops, Schulungen, Coachings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5394960"/>
            <a:ext cx="226771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5486400"/>
            <a:ext cx="2313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Organisationen handlungsfähig machen</a:t>
            </a:r>
            <a:endParaRPr lang="en-US" sz="1000" dirty="0"/>
          </a:p>
        </p:txBody>
      </p:sp>
      <p:sp>
        <p:nvSpPr>
          <p:cNvPr id="11" name="Stufe 2"/>
          <p:cNvSpPr/>
          <p:nvPr/>
        </p:nvSpPr>
        <p:spPr>
          <a:xfrm>
            <a:off x="3337560" y="3447288"/>
            <a:ext cx="2724912" cy="2542032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3630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14216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Discovery &amp; KI-Roadmap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4315968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9E1"/>
                </a:solidFill>
              </a:rPr>
              <a:t>Bezahlte Analyse: Use Cases identifizieren, bewerten, priorisieren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66160" y="5394960"/>
            <a:ext cx="226771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5486400"/>
            <a:ext cx="2313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Von KI-Potenzial zu investierbaren Projekten</a:t>
            </a:r>
            <a:endParaRPr lang="en-US" sz="1000" dirty="0"/>
          </a:p>
        </p:txBody>
      </p:sp>
      <p:sp>
        <p:nvSpPr>
          <p:cNvPr id="17" name="Stufe 3"/>
          <p:cNvSpPr/>
          <p:nvPr/>
        </p:nvSpPr>
        <p:spPr>
          <a:xfrm>
            <a:off x="6126480" y="2734056"/>
            <a:ext cx="2724912" cy="3255264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29169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330098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Umsetzung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60273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9E1"/>
                </a:solidFill>
              </a:rPr>
              <a:t>MVP, Integration, Governance, Rollout und KPI-Messung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5394960"/>
            <a:ext cx="226771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5486400"/>
            <a:ext cx="2313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Vom Konzept zur funktionierenden Anwendung</a:t>
            </a:r>
            <a:endParaRPr lang="en-US" sz="1000" dirty="0"/>
          </a:p>
        </p:txBody>
      </p:sp>
      <p:sp>
        <p:nvSpPr>
          <p:cNvPr id="23" name="Stufe 4"/>
          <p:cNvSpPr/>
          <p:nvPr/>
        </p:nvSpPr>
        <p:spPr>
          <a:xfrm>
            <a:off x="8915400" y="2020824"/>
            <a:ext cx="2724912" cy="39684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2587752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AI-Partnerschaft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2889504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9E1"/>
                </a:solidFill>
              </a:rPr>
              <a:t>Retainer als externe KI-Taskforce: Weiterentwicklung, neue Potenziale, Sparring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144000" y="5394960"/>
            <a:ext cx="226771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0" y="5486400"/>
            <a:ext cx="2313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Langfristiger Produktivitätsmotor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ZIELKUNDEN UND ERFAHRUNGSFELDER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Heute Mittelstand – mit Steinbeis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perspektivisch auch größere Kunden</a:t>
            </a:r>
            <a:endParaRPr lang="en-US" sz="2200" dirty="0"/>
          </a:p>
        </p:txBody>
      </p:sp>
      <p:sp>
        <p:nvSpPr>
          <p:cNvPr id="4" name="Heute"/>
          <p:cNvSpPr/>
          <p:nvPr/>
        </p:nvSpPr>
        <p:spPr>
          <a:xfrm>
            <a:off x="548640" y="1783080"/>
            <a:ext cx="5120640" cy="2148840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93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HEUTE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Mittelständische Unternehmen mit ca. 40–400 Mitarbeitenden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1635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Wissens-, dokumenten- oder serviceintensive Prozesse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Viele manuelle, repetitive Tätigkeiten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2"/>
                </a:solidFill>
              </a:rPr>
              <a:t>Bedarf an Produktivität, Qualität und Skalierung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33872" y="2670048"/>
            <a:ext cx="45720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Perspektive"/>
          <p:cNvSpPr/>
          <p:nvPr/>
        </p:nvSpPr>
        <p:spPr>
          <a:xfrm>
            <a:off x="6455664" y="1783080"/>
            <a:ext cx="5184648" cy="2148840"/>
          </a:xfrm>
          <a:prstGeom prst="roundRect">
            <a:avLst>
              <a:gd name="adj" fmla="val 297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29984" y="199339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6"/>
                </a:solidFill>
              </a:rPr>
              <a:t>PERSPEKTIVISCH MIT STEINBEIS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729984" y="2240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Größere Mittelständler, Konzerne und institutionelle Kunden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29984" y="2816352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5D9E1"/>
                </a:solidFill>
              </a:rPr>
              <a:t>Durch </a:t>
            </a:r>
            <a:pPr indent="0" marL="0">
              <a:buNone/>
            </a:pPr>
            <a:r>
              <a:rPr lang="en-US" sz="1100" b="1" dirty="0">
                <a:solidFill>
                  <a:srgbClr val="D5D9E1"/>
                </a:solidFill>
              </a:rPr>
              <a:t>höhere Reputation</a:t>
            </a:r>
            <a:pPr indent="0" marL="0">
              <a:buNone/>
            </a:pPr>
            <a:r>
              <a:rPr lang="en-US" sz="1100" dirty="0">
                <a:solidFill>
                  <a:srgbClr val="D5D9E1"/>
                </a:solidFill>
              </a:rPr>
              <a:t>, institutionelles Vertrauen und den Anschluss an das Steinbeis-Netzwerk werden auch umfangreichere Transformationsprojekte realisierbar.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519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ERFAHRUNGSFELDER – BRANCHEN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4572000"/>
            <a:ext cx="801014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72000"/>
            <a:ext cx="8010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Software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41094" y="4572000"/>
            <a:ext cx="1591056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41094" y="457200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Bau &amp; Ingenieurwesen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23590" y="4572000"/>
            <a:ext cx="2117750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23590" y="4572000"/>
            <a:ext cx="21177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Automotive &amp; Autohausgruppen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974336"/>
            <a:ext cx="801014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74336"/>
            <a:ext cx="8010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Beratung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41094" y="4974336"/>
            <a:ext cx="1656893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41094" y="4974336"/>
            <a:ext cx="165689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Fitnessstudio-Gruppen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189427" y="4974336"/>
            <a:ext cx="801014" cy="31089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89427" y="4974336"/>
            <a:ext cx="80101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Logistik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55664" y="42519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4"/>
                </a:solidFill>
              </a:rPr>
              <a:t>ANWENDUNGSSCHWERPUNKTE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55664" y="4572000"/>
            <a:ext cx="1130198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4572000"/>
            <a:ext cx="11301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Kundenservice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77302" y="4572000"/>
            <a:ext cx="1393546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302" y="4572000"/>
            <a:ext cx="13935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Wissensmanagement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162288" y="4572000"/>
            <a:ext cx="1920240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62288" y="45720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Dokumentenautomatisierung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55664" y="4974336"/>
            <a:ext cx="1722730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55664" y="4974336"/>
            <a:ext cx="172273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Prozessautomatisierung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269834" y="4974336"/>
            <a:ext cx="1854403" cy="310896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69834" y="4974336"/>
            <a:ext cx="18544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Compliance-nahe Prozesse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389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STEINBEIS UND SH&amp;PARTNER</a:t>
            </a:r>
            <a:endParaRPr lang="en-US" sz="95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Bestehende Stärken verbinden. </a:t>
            </a:r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Umsetzung beschleunigen.</a:t>
            </a:r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 Marktpotenziale gemeinsam erschließen.</a:t>
            </a:r>
            <a:endParaRPr lang="en-US" sz="2200" dirty="0"/>
          </a:p>
        </p:txBody>
      </p:sp>
      <p:sp>
        <p:nvSpPr>
          <p:cNvPr id="4" name="STEINBEIS BRINGT"/>
          <p:cNvSpPr/>
          <p:nvPr/>
        </p:nvSpPr>
        <p:spPr>
          <a:xfrm>
            <a:off x="548640" y="1783080"/>
            <a:ext cx="3931920" cy="3063240"/>
          </a:xfrm>
          <a:prstGeom prst="roundRect">
            <a:avLst>
              <a:gd name="adj" fmla="val 20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pic>
        <p:nvPicPr>
          <p:cNvPr id="5" name="Image 0" descr="logo_steinbeis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84248"/>
            <a:ext cx="11612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3957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STEINBEIS BRINGT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24912"/>
            <a:ext cx="3429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Reputation und institutionelles Vertrauen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Breites Netzwerk mit bestehender KI-Kompetenz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Transfer-, Beratungs- und Weiterbildungsexpertise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Direkter Zugang zum Mittelstand</a:t>
            </a:r>
            <a:endParaRPr lang="en-US" sz="1150" dirty="0"/>
          </a:p>
        </p:txBody>
      </p:sp>
      <p:sp>
        <p:nvSpPr>
          <p:cNvPr id="8" name="SH&amp;PARTNER BRINGT"/>
          <p:cNvSpPr/>
          <p:nvPr/>
        </p:nvSpPr>
        <p:spPr>
          <a:xfrm>
            <a:off x="7708392" y="1783080"/>
            <a:ext cx="3931920" cy="3063240"/>
          </a:xfrm>
          <a:prstGeom prst="roundRect">
            <a:avLst>
              <a:gd name="adj" fmla="val 20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19050" dir="5400000">
              <a:srgbClr val="141B2E">
                <a:alpha val="8000"/>
              </a:srgbClr>
            </a:outerShdw>
          </a:effectLst>
        </p:spPr>
      </p:sp>
      <p:pic>
        <p:nvPicPr>
          <p:cNvPr id="9" name="Image 1" descr="logo_sh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712" y="1984248"/>
            <a:ext cx="1325880" cy="2468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82712" y="23957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SH&amp;PARTNER BRINGT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7982712" y="2724912"/>
            <a:ext cx="3429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Hohe Umsetzungsgeschwindigkeit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Technologieagnostische KI-Implementierung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Prozessverständnis und kurze Entwicklungszyklen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KPI-basierte, messbare Ergebnisse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178308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1"/>
                </a:solidFill>
              </a:rPr>
              <a:t>GEMEINSAM</a:t>
            </a:r>
            <a:endParaRPr lang="en-US" sz="900" dirty="0"/>
          </a:p>
        </p:txBody>
      </p:sp>
      <p:sp>
        <p:nvSpPr>
          <p:cNvPr id="13" name="Gemeinsam 1"/>
          <p:cNvSpPr/>
          <p:nvPr/>
        </p:nvSpPr>
        <p:spPr>
          <a:xfrm>
            <a:off x="4663440" y="2103120"/>
            <a:ext cx="2862072" cy="594360"/>
          </a:xfrm>
          <a:prstGeom prst="roundRect">
            <a:avLst>
              <a:gd name="adj" fmla="val 107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2276856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12080" y="2103120"/>
            <a:ext cx="2221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Gemeinsame Kundenprojekte</a:t>
            </a:r>
            <a:endParaRPr lang="en-US" sz="1050" dirty="0"/>
          </a:p>
        </p:txBody>
      </p:sp>
      <p:sp>
        <p:nvSpPr>
          <p:cNvPr id="16" name="Gemeinsam 2"/>
          <p:cNvSpPr/>
          <p:nvPr/>
        </p:nvSpPr>
        <p:spPr>
          <a:xfrm>
            <a:off x="4663440" y="2807208"/>
            <a:ext cx="2862072" cy="594360"/>
          </a:xfrm>
          <a:prstGeom prst="roundRect">
            <a:avLst>
              <a:gd name="adj" fmla="val 107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980944"/>
            <a:ext cx="246888" cy="2468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212080" y="2807208"/>
            <a:ext cx="2221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Größere Transformationsmandate</a:t>
            </a:r>
            <a:endParaRPr lang="en-US" sz="1050" dirty="0"/>
          </a:p>
        </p:txBody>
      </p:sp>
      <p:sp>
        <p:nvSpPr>
          <p:cNvPr id="19" name="Gemeinsam 3"/>
          <p:cNvSpPr/>
          <p:nvPr/>
        </p:nvSpPr>
        <p:spPr>
          <a:xfrm>
            <a:off x="4663440" y="3511296"/>
            <a:ext cx="2862072" cy="594360"/>
          </a:xfrm>
          <a:prstGeom prst="roundRect">
            <a:avLst>
              <a:gd name="adj" fmla="val 1076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8888" y="3685032"/>
            <a:ext cx="246888" cy="24688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212080" y="3511296"/>
            <a:ext cx="2221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Operative Unterstützung weiterer Transferzentren</a:t>
            </a:r>
            <a:endParaRPr lang="en-US" sz="1050" dirty="0"/>
          </a:p>
        </p:txBody>
      </p:sp>
      <p:sp>
        <p:nvSpPr>
          <p:cNvPr id="22" name="Gemeinsam 4"/>
          <p:cNvSpPr/>
          <p:nvPr/>
        </p:nvSpPr>
        <p:spPr>
          <a:xfrm>
            <a:off x="4663440" y="4215384"/>
            <a:ext cx="2862072" cy="594360"/>
          </a:xfrm>
          <a:prstGeom prst="roundRect">
            <a:avLst>
              <a:gd name="adj" fmla="val 1076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8888" y="4389120"/>
            <a:ext cx="246888" cy="24688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212080" y="4215384"/>
            <a:ext cx="2221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Langfristige AI-Partnerschaften</a:t>
            </a:r>
            <a:endParaRPr lang="en-US" sz="1050" dirty="0"/>
          </a:p>
        </p:txBody>
      </p:sp>
      <p:sp>
        <p:nvSpPr>
          <p:cNvPr id="25" name="Kernaussage"/>
          <p:cNvSpPr/>
          <p:nvPr/>
        </p:nvSpPr>
        <p:spPr>
          <a:xfrm>
            <a:off x="548640" y="5120640"/>
            <a:ext cx="11091672" cy="658368"/>
          </a:xfrm>
          <a:prstGeom prst="roundRect">
            <a:avLst>
              <a:gd name="adj" fmla="val 97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68680" y="51206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Ein etabliertes Kompetenznetzwerk trifft auf einen </a:t>
            </a:r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agilen, umsetzungsstarken Ansatz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 für digitale Geschäftsprozesse – für mehr </a:t>
            </a:r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Geschwindigkeit</a:t>
            </a:r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</a:rPr>
              <a:t> in gemeinsamen KI-Projekten.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45936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chemeClr val="accent6"/>
                </a:solidFill>
              </a:rPr>
              <a:t>UNSERE AMBITION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dirty="0">
                <a:solidFill>
                  <a:schemeClr val="bg1"/>
                </a:solidFill>
              </a:rPr>
              <a:t>Die Technologie ist da. Der Bedarf ist da. </a:t>
            </a:r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Der Wettbewerbsvorteil entsteht jetzt.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CED8"/>
                </a:solidFill>
              </a:rPr>
              <a:t>Wir wollen die Geschwindigkeit erhöhen, mit der der deutsche Mittelstand aus technologischen Möglichkeiten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CED8"/>
                </a:solidFill>
              </a:rPr>
              <a:t>reale Wettbewerbsvorteile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CED8"/>
                </a:solidFill>
              </a:rPr>
              <a:t> entwickelt. Innerhalb des Steinbeis-Ökosystems möchten wir dafür eine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9CED8"/>
                </a:solidFill>
              </a:rPr>
              <a:t>schnelle, technologieagnostische und mittelstandsnahe KI-Einheit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CED8"/>
                </a:solidFill>
              </a:rPr>
              <a:t> aufbauen – und KI über einzelne Projekte hinaus dauerhaft in Unternehmen verankern.</a:t>
            </a:r>
            <a:endParaRPr lang="en-US" sz="1300" dirty="0"/>
          </a:p>
        </p:txBody>
      </p:sp>
      <p:pic>
        <p:nvPicPr>
          <p:cNvPr id="5" name="Image 0" descr="logo_s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897880"/>
            <a:ext cx="1234440" cy="23042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12848" y="5852160"/>
            <a:ext cx="0" cy="32004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pic>
        <p:nvPicPr>
          <p:cNvPr id="7" name="Image 1" descr="logo_steinbei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5897880"/>
            <a:ext cx="1088136" cy="2304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HundPartner">
  <a:themeElements>
    <a:clrScheme name="SHundPartner">
      <a:dk1>
        <a:srgbClr val="141B2E"/>
      </a:dk1>
      <a:lt1>
        <a:srgbClr val="FFFFFF"/>
      </a:lt1>
      <a:dk2>
        <a:srgbClr val="5C6679"/>
      </a:dk2>
      <a:lt2>
        <a:srgbClr val="F2F3F5"/>
      </a:lt2>
      <a:accent1>
        <a:srgbClr val="9C6F3F"/>
      </a:accent1>
      <a:accent2>
        <a:srgbClr val="4A5A78"/>
      </a:accent2>
      <a:accent3>
        <a:srgbClr val="2E3953"/>
      </a:accent3>
      <a:accent4>
        <a:srgbClr val="959DAC"/>
      </a:accent4>
      <a:accent5>
        <a:srgbClr val="D9DDE4"/>
      </a:accent5>
      <a:accent6>
        <a:srgbClr val="C9A57A"/>
      </a:accent6>
      <a:hlink>
        <a:srgbClr val="4A5A78"/>
      </a:hlink>
      <a:folHlink>
        <a:srgbClr val="5C6679"/>
      </a:folHlink>
    </a:clrScheme>
    <a:fontScheme name="SHundPart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SH&amp;Partner – KI für messbare Wettbewerbsvorteile im Mittelstand</dc:title>
  <dc:subject>PptxGenJS Presentation</dc:subject>
  <dc:creator>SH&amp;Partner</dc:creator>
  <cp:lastModifiedBy>SH&amp;Partner</cp:lastModifiedBy>
  <cp:revision>1</cp:revision>
  <dcterms:created xsi:type="dcterms:W3CDTF">2026-10-04T14:07:51Z</dcterms:created>
  <dcterms:modified xsi:type="dcterms:W3CDTF">2026-10-04T14:07:51Z</dcterms:modified>
</cp:coreProperties>
</file>