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 &amp; Partner" id="{36da2f3e-bb71-4cc6-f58e-45fb3b6151b0}">
          <p14:sldIdLst>
            <p14:sldId id="256"/>
          </p14:sldIdLst>
        </p14:section>
        <p14:section name="Markt und Problem" id="{87b5f033-af4d-22a9-0f29-2a80bbd60a44}">
          <p14:sldIdLst>
            <p14:sldId id="257"/>
            <p14:sldId id="258"/>
          </p14:sldIdLst>
        </p14:section>
        <p14:section name="Ansatz und Angebot" id="{fbda0644-094c-14d7-a902-d12d8c391270}">
          <p14:sldIdLst>
            <p14:sldId id="259"/>
            <p14:sldId id="260"/>
          </p14:sldIdLst>
        </p14:section>
        <p14:section name="Kooperation" id="{9f9a2d45-089f-eb5c-0fdf-edc5a81dca5a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SH &amp; Partner ist keine weitere KI-Beratung, sondern eine schnelle, technologieagnostische Umsetzungseinheit für KI in digitalen Geschäftsprozessen des Mittelstands. Die vier Stärken unten sind der rote Faden der Präsentation.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Nicht die Technologie ist der Engpass, sondern die Umsetzung. Großer Markt (3,87 Mio. KMU), breite Nutzung (57 %), aber kaum Wirkung (9 von 10 am Anfang). Diese Lücke adressiert SH &amp; Partner.
Quellen: KfW-Mittelstandspanel 2025; Bitkom Research, 'Erstmals nutzt die Mehrheit der Unternehmen KI',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Viele Unternehmen haben Schritt 1 und 2 erreicht: KI ist bekannt, Tools werden getestet, erste Schulungen laufen. Der Wettbewerbsvorteil entsteht aber erst mit Schritt 3 und 4 – der Integration in relevante Prozesse und der messbaren Skalierung. Die sechs Hürden rechts erklären, warum Unternehmen hier hängen bleiben.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Ansatz verbindet beide Dimensionen: Enablement allein bleibt ohne Prozesswirkung, Implementierung ohne befähigte Mitarbeitende ohne Akzeptanz. Wir sind technologieagnostisch und bewusst auf digitale Prozesse fokussiert – keine Robotics, keine physische Automatisierung.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Pfad ist bewusst skalierbar: Der Einstieg über Workshops senkt die Hürde, die bezahlte Discovery-Phase qualifiziert und priorisiert, die Umsetzung liefert messbare Ergebnisse, und die AI-Partnerschaft sichert die langfristige Weiterentwicklung als externe KI-Taskforce.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Steinbeis bringt Reputation, Netzwerk, Transferkompetenz und Mittelstandszugang. SH &amp; Partner ergänzt dies um Umsetzungsgeschwindigkeit und Praxisnähe in der KI-Implementierung. Gemeinsam entstehen Projekte, größere Mandate und langfristige Kundenbeziehungen. Nächster Schritt: gemeinsames Pilotmandat definieren.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dunke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-987552"/>
            <a:ext cx="7726680" cy="6080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he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1463040"/>
            <a:ext cx="5120640" cy="4023360"/>
          </a:xfrm>
          <a:prstGeom prst="rect">
            <a:avLst/>
          </a:prstGeom>
        </p:spPr>
      </p:pic>
      <p:pic>
        <p:nvPicPr>
          <p:cNvPr id="3" name="Image 1" descr="logo_s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960120" cy="17922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63093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 &amp; Partner  ·  Kooperationsprofil für den Steinbeis-Verbund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548640" y="676656"/>
            <a:ext cx="95097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25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783080" cy="3319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80360" y="640080"/>
            <a:ext cx="0" cy="42062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pic>
        <p:nvPicPr>
          <p:cNvPr id="4" name="Image 1" descr="logo_steinbei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85800"/>
            <a:ext cx="1563624" cy="33192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1783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</a:rPr>
              <a:t>UNTERNEHMENS- UND KOOPERATIONSPROFIL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10312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chemeClr val="bg1"/>
                </a:solidFill>
              </a:rPr>
              <a:t>KI nicht nur verstehen – sondern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schnell, pragmatisch und messbar</a:t>
            </a:r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chemeClr val="bg1"/>
                </a:solidFill>
              </a:rPr>
              <a:t> in Wettbewerbsvorteile übersetzen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3703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ED8"/>
                </a:solidFill>
              </a:rPr>
              <a:t>SH &amp; Partner unterstützt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CED8"/>
                </a:solidFill>
              </a:rPr>
              <a:t>mittelständische Unternehmen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ED8"/>
                </a:solidFill>
              </a:rPr>
              <a:t> dabei, künstliche Intelligenz in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CED8"/>
                </a:solidFill>
              </a:rPr>
              <a:t>produktive digitale Geschäftsprozesse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ED8"/>
                </a:solidFill>
              </a:rPr>
              <a:t> zu integrieren – mit Prozessverständnis, technologischer Expertise und Umsetzungsgeschwindigkeit, klar ausgerichtet auf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9CED8"/>
                </a:solidFill>
              </a:rPr>
              <a:t>messbare Ergebnisse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ED8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956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Geschwindigkeit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2669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Vom Use Case zum MVP in Wochen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24328" y="4983480"/>
            <a:ext cx="0" cy="6583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788920" y="4956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Pragmatismus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52669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Umsetzung statt Folienstrategie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36008" y="4983480"/>
            <a:ext cx="0" cy="6583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00600" y="4956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Prozessverständnis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52669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Fachlich denken, technisch lösen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647688" y="4983480"/>
            <a:ext cx="0" cy="65836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12280" y="4956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KPI-Fokus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12280" y="52669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Jeder Use Case mit Messgröße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6263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Oktober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MARKTCHANCE</a:t>
            </a:r>
            <a:endParaRPr lang="en-US" sz="105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7665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KI ist technologisch reif – jetzt entscheidet </a:t>
            </a:r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Umsetzungsgeschwindigkeit</a:t>
            </a:r>
            <a:endParaRPr lang="en-US" sz="2500" dirty="0"/>
          </a:p>
        </p:txBody>
      </p:sp>
      <p:sp>
        <p:nvSpPr>
          <p:cNvPr id="4" name="Pfeil Großer Markt"/>
          <p:cNvSpPr/>
          <p:nvPr/>
        </p:nvSpPr>
        <p:spPr>
          <a:xfrm>
            <a:off x="548640" y="1810512"/>
            <a:ext cx="3593592" cy="475488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Großer Markt</a:t>
            </a:r>
            <a:endParaRPr lang="en-US" sz="1300" dirty="0"/>
          </a:p>
        </p:txBody>
      </p:sp>
      <p:sp>
        <p:nvSpPr>
          <p:cNvPr id="6" name="Kennzahl 1"/>
          <p:cNvSpPr/>
          <p:nvPr/>
        </p:nvSpPr>
        <p:spPr>
          <a:xfrm>
            <a:off x="548640" y="2432304"/>
            <a:ext cx="348386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615184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3,87 Mio.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5643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mittelständische Unternehmen in Deutschland – das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Rückgrat der Wirtschaft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und unser Kernmarkt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Quelle: KfW-Mittelstandspanel 2025 (Stand 2024)</a:t>
            </a:r>
            <a:endParaRPr lang="en-US" sz="1000" dirty="0"/>
          </a:p>
        </p:txBody>
      </p:sp>
      <p:sp>
        <p:nvSpPr>
          <p:cNvPr id="10" name="Pfeil Breite Adoption"/>
          <p:cNvSpPr/>
          <p:nvPr/>
        </p:nvSpPr>
        <p:spPr>
          <a:xfrm>
            <a:off x="4297680" y="1810512"/>
            <a:ext cx="3593592" cy="475488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10512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Breite Adoption</a:t>
            </a:r>
            <a:endParaRPr lang="en-US" sz="1300" dirty="0"/>
          </a:p>
        </p:txBody>
      </p:sp>
      <p:sp>
        <p:nvSpPr>
          <p:cNvPr id="12" name="Kennzahl 2"/>
          <p:cNvSpPr/>
          <p:nvPr/>
        </p:nvSpPr>
        <p:spPr>
          <a:xfrm>
            <a:off x="4297680" y="2432304"/>
            <a:ext cx="348386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615184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57 %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45643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 Unternehmen ab 20 Beschäftigten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nutzen bereits KI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erstmals die Mehrheit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434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Quelle: Bitkom Research, September 2026</a:t>
            </a:r>
            <a:endParaRPr lang="en-US" sz="1000" dirty="0"/>
          </a:p>
        </p:txBody>
      </p:sp>
      <p:sp>
        <p:nvSpPr>
          <p:cNvPr id="16" name="Pfeil Ungenutzte Wirkung"/>
          <p:cNvSpPr/>
          <p:nvPr/>
        </p:nvSpPr>
        <p:spPr>
          <a:xfrm>
            <a:off x="8046720" y="1810512"/>
            <a:ext cx="3593592" cy="47548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810512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Ungenutzte Wirkung</a:t>
            </a:r>
            <a:endParaRPr lang="en-US" sz="1300" dirty="0"/>
          </a:p>
        </p:txBody>
      </p:sp>
      <p:sp>
        <p:nvSpPr>
          <p:cNvPr id="18" name="Kennzahl 3"/>
          <p:cNvSpPr/>
          <p:nvPr/>
        </p:nvSpPr>
        <p:spPr>
          <a:xfrm>
            <a:off x="8046720" y="2432304"/>
            <a:ext cx="3483864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2615184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 von 10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45643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sehen sich bei KI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erst am Anfang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rund 87 % der Nutzer schöpfen das Potenzial wenig oder gar nicht aus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434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Quelle: Bitkom Research, September 2026</a:t>
            </a:r>
            <a:endParaRPr lang="en-US" sz="1000" dirty="0"/>
          </a:p>
        </p:txBody>
      </p:sp>
      <p:sp>
        <p:nvSpPr>
          <p:cNvPr id="22" name="Kernaussage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Der Markt ist groß, die Technologie verfügbar – doch der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produktive Einsatz steht erst am Anfang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 Wer jetzt schnell umsetzt, sichert sich den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Wettbewerbsvorteil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AUSGANGSLAGE</a:t>
            </a:r>
            <a:endParaRPr lang="en-US" sz="105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7665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Der Mittelstand hat kein Erkenntnisproblem – sondern ein </a:t>
            </a:r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Umsetzungsproblem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</a:rPr>
              <a:t>VOM POTENZIAL ZUR WIRKUNG</a:t>
            </a:r>
            <a:endParaRPr lang="en-US" sz="1000" dirty="0"/>
          </a:p>
        </p:txBody>
      </p:sp>
      <p:sp>
        <p:nvSpPr>
          <p:cNvPr id="5" name="Stufe 1"/>
          <p:cNvSpPr/>
          <p:nvPr/>
        </p:nvSpPr>
        <p:spPr>
          <a:xfrm>
            <a:off x="548640" y="5349240"/>
            <a:ext cx="2743200" cy="603504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53492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KI verstehen</a:t>
            </a:r>
            <a:endParaRPr lang="en-US" sz="1400" dirty="0"/>
          </a:p>
        </p:txBody>
      </p:sp>
      <p:sp>
        <p:nvSpPr>
          <p:cNvPr id="7" name="Stufe 2"/>
          <p:cNvSpPr/>
          <p:nvPr/>
        </p:nvSpPr>
        <p:spPr>
          <a:xfrm>
            <a:off x="932688" y="4663440"/>
            <a:ext cx="2743200" cy="603504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46634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Tools testen</a:t>
            </a:r>
            <a:endParaRPr lang="en-US" sz="1400" dirty="0"/>
          </a:p>
        </p:txBody>
      </p:sp>
      <p:sp>
        <p:nvSpPr>
          <p:cNvPr id="9" name="Stufe 3"/>
          <p:cNvSpPr/>
          <p:nvPr/>
        </p:nvSpPr>
        <p:spPr>
          <a:xfrm>
            <a:off x="1316736" y="3566160"/>
            <a:ext cx="2743200" cy="603504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17904" y="35661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 Prozesse integrieren</a:t>
            </a:r>
            <a:endParaRPr lang="en-US" sz="1400" dirty="0"/>
          </a:p>
        </p:txBody>
      </p:sp>
      <p:sp>
        <p:nvSpPr>
          <p:cNvPr id="11" name="Stufe 4"/>
          <p:cNvSpPr/>
          <p:nvPr/>
        </p:nvSpPr>
        <p:spPr>
          <a:xfrm>
            <a:off x="1700784" y="2880360"/>
            <a:ext cx="2743200" cy="603504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01952" y="2880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Messbar skalieren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5513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← Hier stehen die meisten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260604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291840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UMSETZUNGSLÜCKE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00784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Hier entsteht der Wettbewerbsvorteil 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1810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4"/>
                </a:solidFill>
              </a:rPr>
              <a:t>TYPISCHE HÜRDEN IN DER PRAXIS</a:t>
            </a:r>
            <a:endParaRPr lang="en-US" sz="1000" dirty="0"/>
          </a:p>
        </p:txBody>
      </p:sp>
      <p:sp>
        <p:nvSpPr>
          <p:cNvPr id="18" name="Hürde 1"/>
          <p:cNvSpPr/>
          <p:nvPr/>
        </p:nvSpPr>
        <p:spPr>
          <a:xfrm>
            <a:off x="5532120" y="2157984"/>
            <a:ext cx="2962656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15000" y="2340864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313432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Unklare Priorisierung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67004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Viele Ideen, aber keine Bewertung nach Nutzen und Machbarkeit</a:t>
            </a:r>
            <a:endParaRPr lang="en-US" sz="1150" dirty="0"/>
          </a:p>
        </p:txBody>
      </p:sp>
      <p:sp>
        <p:nvSpPr>
          <p:cNvPr id="23" name="Hürde 2"/>
          <p:cNvSpPr/>
          <p:nvPr/>
        </p:nvSpPr>
        <p:spPr>
          <a:xfrm>
            <a:off x="8677656" y="2157984"/>
            <a:ext cx="2962656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60536" y="2340864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0536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2313432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Fehlende Übersetzung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317736" y="267004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Vom Anwendungsfall zur technischen Lösung fehlt die Brücke</a:t>
            </a:r>
            <a:endParaRPr lang="en-US" sz="1150" dirty="0"/>
          </a:p>
        </p:txBody>
      </p:sp>
      <p:sp>
        <p:nvSpPr>
          <p:cNvPr id="28" name="Hürde 3"/>
          <p:cNvSpPr/>
          <p:nvPr/>
        </p:nvSpPr>
        <p:spPr>
          <a:xfrm>
            <a:off x="5532120" y="3456432"/>
            <a:ext cx="2962656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15000" y="3639312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61188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Wenig Kapazität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96849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IT und Fachbereiche sind im Tagesgeschäft gebunden</a:t>
            </a:r>
            <a:endParaRPr lang="en-US" sz="1150" dirty="0"/>
          </a:p>
        </p:txBody>
      </p:sp>
      <p:sp>
        <p:nvSpPr>
          <p:cNvPr id="33" name="Hürde 4"/>
          <p:cNvSpPr/>
          <p:nvPr/>
        </p:nvSpPr>
        <p:spPr>
          <a:xfrm>
            <a:off x="8677656" y="3456432"/>
            <a:ext cx="2962656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860536" y="3639312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60536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317736" y="361188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Heterogene Systeme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9317736" y="3968496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ERP, CRM und Fachsysteme sind kaum miteinander verbunden</a:t>
            </a:r>
            <a:endParaRPr lang="en-US" sz="1150" dirty="0"/>
          </a:p>
        </p:txBody>
      </p:sp>
      <p:sp>
        <p:nvSpPr>
          <p:cNvPr id="38" name="Hürde 5"/>
          <p:cNvSpPr/>
          <p:nvPr/>
        </p:nvSpPr>
        <p:spPr>
          <a:xfrm>
            <a:off x="5532120" y="4754880"/>
            <a:ext cx="2962656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15000" y="493776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1500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491032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Fehlende KPI-Logik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526694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Nutzen wird nicht gemessen – Budgets bleiben aus</a:t>
            </a:r>
            <a:endParaRPr lang="en-US" sz="1150" dirty="0"/>
          </a:p>
        </p:txBody>
      </p:sp>
      <p:sp>
        <p:nvSpPr>
          <p:cNvPr id="43" name="Hürde 6"/>
          <p:cNvSpPr/>
          <p:nvPr/>
        </p:nvSpPr>
        <p:spPr>
          <a:xfrm>
            <a:off x="8677656" y="4754880"/>
            <a:ext cx="2962656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860536" y="493776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60536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317736" y="491032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Unklare Governance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9317736" y="5266944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Datenschutz, DSGVO und EU AI Act bremsen Entscheidungen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UNSER ANSATZ</a:t>
            </a:r>
            <a:endParaRPr lang="en-US" sz="105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7665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Zwei Dimensionen von KI: Enablement und Implementierung </a:t>
            </a:r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gehören zusammen</a:t>
            </a:r>
            <a:endParaRPr lang="en-US" sz="2500" dirty="0"/>
          </a:p>
        </p:txBody>
      </p:sp>
      <p:sp>
        <p:nvSpPr>
          <p:cNvPr id="4" name="Individual Enablement"/>
          <p:cNvSpPr/>
          <p:nvPr/>
        </p:nvSpPr>
        <p:spPr>
          <a:xfrm>
            <a:off x="548640" y="1810512"/>
            <a:ext cx="53492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84832"/>
            <a:ext cx="603504" cy="6035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235708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27632" y="2103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DIMENSION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23408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Individual Enablement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34640"/>
            <a:ext cx="4764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Mitarbeitende und Teams befähigen, KI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produktiv im Arbeitsalltag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zu nutzen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502152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Workshops, Schulungen und Coachings nach Rolle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Sicherer Umgang mit Assistenten und Copilots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Multiplikatoren und KI-Kultur im Unternehmen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" y="4370832"/>
            <a:ext cx="476402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4462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ERGEBNIS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69087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Akzeptanz und Produktivität in der Breite</a:t>
            </a:r>
            <a:endParaRPr lang="en-US" sz="1400" dirty="0"/>
          </a:p>
        </p:txBody>
      </p:sp>
      <p:sp>
        <p:nvSpPr>
          <p:cNvPr id="14" name="Institutionelle KI-Integration"/>
          <p:cNvSpPr/>
          <p:nvPr/>
        </p:nvSpPr>
        <p:spPr>
          <a:xfrm>
            <a:off x="6291072" y="1810512"/>
            <a:ext cx="53492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08483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235708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70064" y="2103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DIMENSION 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370064" y="23408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Institutionelle KI-Integration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2834640"/>
            <a:ext cx="4764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 in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digitale, wertschöpfende Geschäftsprozesse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integrieren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3502152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Anwendungsfälle entlang der Wertschöpfung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Integration in bestehende Kundensysteme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Automatisierung mit definierter Messgröße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83680" y="4370832"/>
            <a:ext cx="4764024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83680" y="4462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ERGEBNIS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69087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Skalierbare, messbare Wirkung im Kernprozess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833872" y="3200400"/>
            <a:ext cx="530352" cy="53035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5833872" y="3200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26" name="Prinzip 1"/>
          <p:cNvSpPr/>
          <p:nvPr/>
        </p:nvSpPr>
        <p:spPr>
          <a:xfrm>
            <a:off x="548640" y="5303520"/>
            <a:ext cx="53492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49808" y="54406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550408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53312" y="530352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Technologieagnostisch: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Technologie folgt Prozess, Nutzen, Datenlage und Kundensystemen</a:t>
            </a:r>
            <a:endParaRPr lang="en-US" sz="1300" dirty="0"/>
          </a:p>
        </p:txBody>
      </p:sp>
      <p:sp>
        <p:nvSpPr>
          <p:cNvPr id="30" name="Prinzip 2"/>
          <p:cNvSpPr/>
          <p:nvPr/>
        </p:nvSpPr>
        <p:spPr>
          <a:xfrm>
            <a:off x="6291072" y="5303520"/>
            <a:ext cx="53492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492240" y="54406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555040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095744" y="530352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Klarer Fokus: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virtuelle, digitale Prozesse – keine Robotics, keine physische Automatisierung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ANGEBOTSMODELL</a:t>
            </a:r>
            <a:endParaRPr lang="en-US" sz="105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7665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Ein skalierbarer Projektpfad – von der Schulung bis zur </a:t>
            </a:r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langfristigen KI-Taskforce</a:t>
            </a:r>
            <a:endParaRPr lang="en-US" sz="2500" dirty="0"/>
          </a:p>
        </p:txBody>
      </p:sp>
      <p:sp>
        <p:nvSpPr>
          <p:cNvPr id="4" name="Pfeil 1  Enablement"/>
          <p:cNvSpPr/>
          <p:nvPr/>
        </p:nvSpPr>
        <p:spPr>
          <a:xfrm>
            <a:off x="548640" y="1810512"/>
            <a:ext cx="2770632" cy="475488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 Enablement</a:t>
            </a:r>
            <a:endParaRPr lang="en-US" sz="1300" dirty="0"/>
          </a:p>
        </p:txBody>
      </p:sp>
      <p:sp>
        <p:nvSpPr>
          <p:cNvPr id="6" name="1  Enablement"/>
          <p:cNvSpPr/>
          <p:nvPr/>
        </p:nvSpPr>
        <p:spPr>
          <a:xfrm>
            <a:off x="548640" y="2432304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5603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Einstieg · Impuls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Workshops, Schulungen, Coachings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832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KI-Potenziale greifbar machen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Rollenbasierte Trainings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Erste Ideen sammeln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297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ERGEBNIS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Befähigte Teams</a:t>
            </a:r>
            <a:endParaRPr lang="en-US" sz="1250" dirty="0"/>
          </a:p>
        </p:txBody>
      </p:sp>
      <p:sp>
        <p:nvSpPr>
          <p:cNvPr id="13" name="Pfeil 2  Discovery"/>
          <p:cNvSpPr/>
          <p:nvPr/>
        </p:nvSpPr>
        <p:spPr>
          <a:xfrm>
            <a:off x="3346704" y="1810512"/>
            <a:ext cx="2770632" cy="475488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21024" y="181051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  Discovery</a:t>
            </a:r>
            <a:endParaRPr lang="en-US" sz="1300" dirty="0"/>
          </a:p>
        </p:txBody>
      </p:sp>
      <p:sp>
        <p:nvSpPr>
          <p:cNvPr id="15" name="2  Discovery"/>
          <p:cNvSpPr/>
          <p:nvPr/>
        </p:nvSpPr>
        <p:spPr>
          <a:xfrm>
            <a:off x="3346704" y="2432304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47872" y="25603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Bezahlte Analysephase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 Cases finden und bewerten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33832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Identifikation im Prozess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Bewertung nach Nutzen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Priorisierung und Roadmap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47872" y="4224528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47872" y="4297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ERGEBNIS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47872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Priorisierte KI-Roadmap</a:t>
            </a:r>
            <a:endParaRPr lang="en-US" sz="1250" dirty="0"/>
          </a:p>
        </p:txBody>
      </p:sp>
      <p:sp>
        <p:nvSpPr>
          <p:cNvPr id="22" name="Pfeil 3  Umsetzung"/>
          <p:cNvSpPr/>
          <p:nvPr/>
        </p:nvSpPr>
        <p:spPr>
          <a:xfrm>
            <a:off x="6144768" y="1810512"/>
            <a:ext cx="2770632" cy="475488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181051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 Umsetzung</a:t>
            </a:r>
            <a:endParaRPr lang="en-US" sz="1300" dirty="0"/>
          </a:p>
        </p:txBody>
      </p:sp>
      <p:sp>
        <p:nvSpPr>
          <p:cNvPr id="24" name="3  Umsetzung"/>
          <p:cNvSpPr/>
          <p:nvPr/>
        </p:nvSpPr>
        <p:spPr>
          <a:xfrm>
            <a:off x="6144768" y="2432304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45936" y="25603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Implementierung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Vom MVP in den Betrieb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33832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MVPs in wenigen Wochen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Integration in Kundensysteme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Rollout und KPI-Messung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45936" y="4224528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45936" y="4297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ERGEBNIS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Messbare Prozesswirkung</a:t>
            </a:r>
            <a:endParaRPr lang="en-US" sz="1250" dirty="0"/>
          </a:p>
        </p:txBody>
      </p:sp>
      <p:sp>
        <p:nvSpPr>
          <p:cNvPr id="31" name="Pfeil 4  AI-Partnerschaft"/>
          <p:cNvSpPr/>
          <p:nvPr/>
        </p:nvSpPr>
        <p:spPr>
          <a:xfrm>
            <a:off x="8942832" y="1810512"/>
            <a:ext cx="2770632" cy="47548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17152" y="181051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  AI-Partnerschaft</a:t>
            </a:r>
            <a:endParaRPr lang="en-US" sz="1300" dirty="0"/>
          </a:p>
        </p:txBody>
      </p:sp>
      <p:sp>
        <p:nvSpPr>
          <p:cNvPr id="33" name="4  AI-Partnerschaft"/>
          <p:cNvSpPr/>
          <p:nvPr/>
        </p:nvSpPr>
        <p:spPr>
          <a:xfrm>
            <a:off x="8942832" y="2432304"/>
            <a:ext cx="2624328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144000" y="25603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Retainer · kontinuierlich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28163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Externe KI-Taskforce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33832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Laufende Weiterentwicklung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Neue Use Cases nachziehen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Steuerung über KPIs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0" y="4224528"/>
            <a:ext cx="2221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0" y="4297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ERGEBNIS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Dauerhafte Partnerschaft</a:t>
            </a:r>
            <a:endParaRPr lang="en-US" sz="1250" dirty="0"/>
          </a:p>
        </p:txBody>
      </p:sp>
      <p:sp>
        <p:nvSpPr>
          <p:cNvPr id="40" name="Kernaussage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Aus ersten Impulsen entstehen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konkrete Projekte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– aus Projekten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langfristige Kundenbeziehungen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mit wiederkehrendem Umsatz.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</a:rPr>
              <a:t>MEHRWERT FÜR STEINBEIS</a:t>
            </a:r>
            <a:endParaRPr lang="en-US" sz="105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7665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Bestehende Stärken verbinden. </a:t>
            </a:r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Umsetzung beschleunigen.</a:t>
            </a:r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 Marktpotenziale gemeinsam erschließen.</a:t>
            </a:r>
            <a:endParaRPr lang="en-US" sz="2500" dirty="0"/>
          </a:p>
        </p:txBody>
      </p:sp>
      <p:sp>
        <p:nvSpPr>
          <p:cNvPr id="4" name="STEINBEIS BRINGT"/>
          <p:cNvSpPr/>
          <p:nvPr/>
        </p:nvSpPr>
        <p:spPr>
          <a:xfrm>
            <a:off x="548640" y="1810512"/>
            <a:ext cx="4069080" cy="2880360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pic>
        <p:nvPicPr>
          <p:cNvPr id="5" name="Image 0" descr="logo_steinbei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11680"/>
            <a:ext cx="1298448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STEINBEIS BRINGT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743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Reputation und institutionelles Vertrauen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Starkes, breites Expertennetzwerk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Bewährte Transferkompetenz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Direkter Zugang zum Mittelstand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Perspektivisch größere Kunden</a:t>
            </a:r>
            <a:endParaRPr lang="en-US" sz="1350" dirty="0"/>
          </a:p>
        </p:txBody>
      </p:sp>
      <p:sp>
        <p:nvSpPr>
          <p:cNvPr id="8" name="SH &amp; PARTNER BRINGT"/>
          <p:cNvSpPr/>
          <p:nvPr/>
        </p:nvSpPr>
        <p:spPr>
          <a:xfrm>
            <a:off x="7571232" y="1810512"/>
            <a:ext cx="4069080" cy="2880360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2E">
                <a:alpha val="10000"/>
              </a:srgbClr>
            </a:outerShdw>
          </a:effectLst>
        </p:spPr>
      </p:sp>
      <p:pic>
        <p:nvPicPr>
          <p:cNvPr id="9" name="Image 1" descr="logo_s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011680"/>
            <a:ext cx="1472184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SH &amp; PARTNER BRINGT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2743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Umsetzungsgeschwindigkeit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Technologieagnostische KI-Expertise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Prozessnähe und Praxisbezug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Projekterfahrung im Mittelstand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Kommerzielle Dynamik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1051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GEMEINSAM</a:t>
            </a:r>
            <a:endParaRPr lang="en-US" sz="1000" dirty="0"/>
          </a:p>
        </p:txBody>
      </p:sp>
      <p:sp>
        <p:nvSpPr>
          <p:cNvPr id="13" name="Ergebnis 1"/>
          <p:cNvSpPr/>
          <p:nvPr/>
        </p:nvSpPr>
        <p:spPr>
          <a:xfrm>
            <a:off x="4846320" y="2157984"/>
            <a:ext cx="2496312" cy="713232"/>
          </a:xfrm>
          <a:prstGeom prst="roundRect">
            <a:avLst>
              <a:gd name="adj" fmla="val 1025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35915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215798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Gemeinsame Projekte</a:t>
            </a:r>
            <a:endParaRPr lang="en-US" sz="1250" dirty="0"/>
          </a:p>
        </p:txBody>
      </p:sp>
      <p:sp>
        <p:nvSpPr>
          <p:cNvPr id="16" name="Ergebnis 2"/>
          <p:cNvSpPr/>
          <p:nvPr/>
        </p:nvSpPr>
        <p:spPr>
          <a:xfrm>
            <a:off x="4846320" y="3017520"/>
            <a:ext cx="2496312" cy="713232"/>
          </a:xfrm>
          <a:prstGeom prst="roundRect">
            <a:avLst>
              <a:gd name="adj" fmla="val 1025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186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30175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Größere Kundenmandate</a:t>
            </a:r>
            <a:endParaRPr lang="en-US" sz="1250" dirty="0"/>
          </a:p>
        </p:txBody>
      </p:sp>
      <p:sp>
        <p:nvSpPr>
          <p:cNvPr id="19" name="Ergebnis 3"/>
          <p:cNvSpPr/>
          <p:nvPr/>
        </p:nvSpPr>
        <p:spPr>
          <a:xfrm>
            <a:off x="4846320" y="3877056"/>
            <a:ext cx="2496312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4078224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40680" y="387705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Langfristige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AI-Partnerschaften</a:t>
            </a:r>
            <a:endParaRPr lang="en-US" sz="1250" dirty="0"/>
          </a:p>
        </p:txBody>
      </p:sp>
      <p:sp>
        <p:nvSpPr>
          <p:cNvPr id="22" name="Kernaussage"/>
          <p:cNvSpPr/>
          <p:nvPr/>
        </p:nvSpPr>
        <p:spPr>
          <a:xfrm>
            <a:off x="548640" y="4937760"/>
            <a:ext cx="11091672" cy="1024128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868680" y="4937760"/>
            <a:ext cx="10424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 &amp; Partner stärkt das Steinbeis-Ökosystem als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praxisnahe KI-Einheit für digitale Geschäftsprozesse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– mit Fokus auf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messbare Wettbewerbsvorteile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, schnelle Umsetzung und skalierbare AI-Partnerschaften.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 und Partner">
  <a:themeElements>
    <a:clrScheme name="SH und Partner">
      <a:dk1>
        <a:srgbClr val="141B2E"/>
      </a:dk1>
      <a:lt1>
        <a:srgbClr val="FFFFFF"/>
      </a:lt1>
      <a:dk2>
        <a:srgbClr val="5C6679"/>
      </a:dk2>
      <a:lt2>
        <a:srgbClr val="F2F3F5"/>
      </a:lt2>
      <a:accent1>
        <a:srgbClr val="1F6F7A"/>
      </a:accent1>
      <a:accent2>
        <a:srgbClr val="4A5A78"/>
      </a:accent2>
      <a:accent3>
        <a:srgbClr val="9C6F3F"/>
      </a:accent3>
      <a:accent4>
        <a:srgbClr val="959DAC"/>
      </a:accent4>
      <a:accent5>
        <a:srgbClr val="D9DDE4"/>
      </a:accent5>
      <a:accent6>
        <a:srgbClr val="26304A"/>
      </a:accent6>
      <a:hlink>
        <a:srgbClr val="1F6F7A"/>
      </a:hlink>
      <a:folHlink>
        <a:srgbClr val="4A5A78"/>
      </a:folHlink>
    </a:clrScheme>
    <a:fontScheme name="SH und Part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SH &amp; 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 &amp; Partner – KI für messbare Wettbewerbsvorteile</dc:title>
  <dc:subject>PptxGenJS Presentation</dc:subject>
  <dc:creator>SH &amp; Partner</dc:creator>
  <cp:lastModifiedBy>SH &amp; Partner</cp:lastModifiedBy>
  <cp:revision>1</cp:revision>
  <dcterms:created xsi:type="dcterms:W3CDTF">2026-10-04T13:54:49Z</dcterms:created>
  <dcterms:modified xsi:type="dcterms:W3CDTF">2026-10-04T13:54:49Z</dcterms:modified>
</cp:coreProperties>
</file>